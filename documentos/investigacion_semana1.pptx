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45720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1828800" cy="1828800"/>
          </a:xfrm>
          <a:prstGeom prst="ellipse">
            <a:avLst/>
          </a:prstGeom>
          <a:solidFill>
            <a:srgbClr val="5EEAD4">
              <a:alpha val="20000"/>
            </a:srgbClr>
          </a:solidFill>
          <a:ln w="12700">
            <a:solidFill>
              <a:srgbClr val="5EEAD4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</a:rPr>
              <a:t>INVESTIGACIÓN TECNOLÓGICA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Repositorios para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E8F0"/>
                </a:solidFill>
              </a:rPr>
              <a:t>Comparativa y análisis de los principales sistemas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E2E8F0"/>
                </a:solidFill>
              </a:rPr>
              <a:t>de almacenamiento y gestión de datos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7091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Henry Anderson Gomez Vasquez   |   Abril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D9488"/>
                </a:solidFill>
              </a:rPr>
              <a:t>CONTENIDO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veremos hoy?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50292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13716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¿Qué es un repositorio de bases de datos?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50292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212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2585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Bases de Datos Relacionales (SQL)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099816"/>
            <a:ext cx="50292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314553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Bases de Datos No Relacionales (NoSQL)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986784"/>
            <a:ext cx="50292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986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403250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Bases de Datos en la Nube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325880"/>
            <a:ext cx="50292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49240" y="13716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Bases de Datos en Memoria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2212848"/>
            <a:ext cx="50292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212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06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49240" y="22585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Bases de Datos de Series Temporales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3099816"/>
            <a:ext cx="50292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07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349240" y="314553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Tabla Comparativa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3986784"/>
            <a:ext cx="50292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986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08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349240" y="403250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Conclusiones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FUNDAMENTOS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3474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Repositorio de Bases de Datos?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Un repositorio de bases de datos es un sistema de software que permite almacenar, organizar, gestionar y recuperar datos de forma eficiente y estructurada. Estos sistemas son la base de cualquier aplicación moderna.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148840"/>
            <a:ext cx="1965960" cy="26517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148840"/>
            <a:ext cx="19659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Almacenamiento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27432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Guarda datos de forma persistente en disco o memoria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50592" y="2148840"/>
            <a:ext cx="1965960" cy="26517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2148840"/>
            <a:ext cx="19659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Consultas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27432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Permite buscar y filtrar información de manera ágil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81144" y="2148840"/>
            <a:ext cx="1965960" cy="26517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81144" y="2148840"/>
            <a:ext cx="19659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90872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Integridad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90872" y="27432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Garantiza consistencia y validez de los datos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11696" y="2148840"/>
            <a:ext cx="1965960" cy="26517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11696" y="2148840"/>
            <a:ext cx="19659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21424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Seguridad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21424" y="27432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Controla acceso y protege información sensible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36576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 Relacionales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651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EEAD4"/>
                </a:solidFill>
              </a:rPr>
              <a:t>Sistemas SQL – Estructurados y con esquema fijo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BASES DE DATOS RELACIONALES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3474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Principales Repositorios SQL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88720"/>
            <a:ext cx="64008" cy="1691640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80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PostgreSQL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Desde 1986  |  Empresarial / Código abierto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965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✓ ACID, extensible, JSON, GIS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72968" y="11887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1188720"/>
            <a:ext cx="64008" cy="1691640"/>
          </a:xfrm>
          <a:prstGeom prst="rect">
            <a:avLst/>
          </a:prstGeom>
          <a:solidFill>
            <a:srgbClr val="4479A1"/>
          </a:solidFill>
          <a:ln w="12700">
            <a:solidFill>
              <a:srgbClr val="4479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280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MySQL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10128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Desde 1995  |  Web / LAMP stack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10128" y="1965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✓ Alta velocidad en lectura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17336" y="11887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17336" y="1188720"/>
            <a:ext cx="64008" cy="1691640"/>
          </a:xfrm>
          <a:prstGeom prst="rect">
            <a:avLst/>
          </a:prstGeom>
          <a:solidFill>
            <a:srgbClr val="CC2927"/>
          </a:solidFill>
          <a:ln w="12700">
            <a:solidFill>
              <a:srgbClr val="CC29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54496" y="1280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SQL Server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54496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Desde 1989  |  Corporativo Microsoft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54496" y="1965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✓ Integración Azure, BI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0632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3063240"/>
            <a:ext cx="64008" cy="1691640"/>
          </a:xfrm>
          <a:prstGeom prst="rect">
            <a:avLst/>
          </a:prstGeom>
          <a:solidFill>
            <a:srgbClr val="F80000"/>
          </a:solidFill>
          <a:ln w="12700">
            <a:solidFill>
              <a:srgbClr val="F8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1546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Oracle DB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65760" y="3520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Desde 1977  |  Grandes empresas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3840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✓ Escalabilidad, seguridad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72968" y="30632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72968" y="3063240"/>
            <a:ext cx="64008" cy="1691640"/>
          </a:xfrm>
          <a:prstGeom prst="rect">
            <a:avLst/>
          </a:prstGeom>
          <a:solidFill>
            <a:srgbClr val="C0765A"/>
          </a:solidFill>
          <a:ln w="12700">
            <a:solidFill>
              <a:srgbClr val="C076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0128" y="31546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MariaDB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310128" y="3520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Desde 2009  |  Web / Fork MySQL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10128" y="3840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✓ Mejor rendimiento, open-source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17336" y="30632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17336" y="3063240"/>
            <a:ext cx="64008" cy="1691640"/>
          </a:xfrm>
          <a:prstGeom prst="rect">
            <a:avLst/>
          </a:prstGeom>
          <a:solidFill>
            <a:srgbClr val="0F80CC"/>
          </a:solidFill>
          <a:ln w="12700">
            <a:solidFill>
              <a:srgbClr val="0F80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54496" y="31546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SQLite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254496" y="3520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Desde 2000  |  Móvil / Embebido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54496" y="3840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✓ Sin servidor, ligero, portable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36576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 NoSQL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651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EEAD4"/>
                </a:solidFill>
              </a:rPr>
              <a:t>Flexible, distribuida y sin esquema rígido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BASES DE DATOS NO RELACIONALES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3474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y Representantes NoSQL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88720"/>
            <a:ext cx="41148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325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Documentos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3192" y="1691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MongoDB, CouchDB, Firestore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" y="199339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Almacena datos en JSON/BSON. Ideal para CMS, catálogos y apps móviles.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88720"/>
            <a:ext cx="41148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1325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Clave-Valor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28032" y="1691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Redis, DynamoDB, Riak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28032" y="199339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Máxima velocidad de lectura/escritura. Perfecto para caché y sesiones.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0632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063240"/>
            <a:ext cx="41148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3200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Columnar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3192" y="3566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Cassandra, HBase, ScyllaDB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3192" y="386791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Excelente para datos analíticos y escrituras masivas distribuidas.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0632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3063240"/>
            <a:ext cx="4114800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3200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Grafos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28032" y="3566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</a:rPr>
              <a:t>Neo4j, ArangoDB, JanusGraph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28032" y="386791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Representa relaciones complejas. Redes sociales y detección de fraude.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36576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 en la Nube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651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EEAD4"/>
                </a:solidFill>
              </a:rPr>
              <a:t>DBaaS – Database as a Service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BASES DE DATOS EN LA NUBE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3474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Principales Proveedores Cloud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88720"/>
            <a:ext cx="274320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2984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Amazon RDS / Aurora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6733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900"/>
                </a:solidFill>
              </a:rPr>
              <a:t>AWS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" y="19202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Soporta MySQL, PostgreSQL, Oracle y SQL Server. Aurora ofrece hasta 5× más rápido que MySQL estándar.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72968" y="11887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1188720"/>
            <a:ext cx="27432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82696" y="12984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Azure SQL / Cosmos DB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82696" y="16733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8D4"/>
                </a:solidFill>
              </a:rPr>
              <a:t>Microsoft Azure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82696" y="19202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SQL totalmente administrado y Cosmos DB multimodelo con distribución global automática.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17336" y="11887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17336" y="1188720"/>
            <a:ext cx="2743200" cy="6400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27064" y="12984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Google Cloud Spanner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27064" y="16733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285F4"/>
                </a:solidFill>
              </a:rPr>
              <a:t>Google Cloud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27064" y="19202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Base de datos relacional distribuida globalmente con consistencia fuerte y SLA de 99.999%.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30632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3063240"/>
            <a:ext cx="2743200" cy="64008"/>
          </a:xfrm>
          <a:prstGeom prst="rect">
            <a:avLst/>
          </a:prstGeom>
          <a:solidFill>
            <a:srgbClr val="47A248"/>
          </a:solidFill>
          <a:ln w="12700">
            <a:solidFill>
              <a:srgbClr val="47A2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" y="31729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MongoDB Atlas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" y="354787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A248"/>
                </a:solidFill>
              </a:rPr>
              <a:t>MongoDB Inc.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8328" y="37947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NoSQL documental gestionado con búsqueda integrada, charts y federación de datos.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72968" y="30632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72968" y="3063240"/>
            <a:ext cx="2743200" cy="64008"/>
          </a:xfrm>
          <a:prstGeom prst="rect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82696" y="31729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Supabase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82696" y="354787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ECF8E"/>
                </a:solidFill>
              </a:rPr>
              <a:t>Open Source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82696" y="37947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Alternativa open-source a Firebase basada en PostgreSQL. Tiempo real e autenticación incluidos.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17336" y="30632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17336" y="3063240"/>
            <a:ext cx="2743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27064" y="31729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PlanetScale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27064" y="354787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Vitess / MySQL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27064" y="37947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MySQL sin esquemas de bloqueo, ramificación de bases de datos y deployments sin downtime.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BASES DE DATOS EN MEMORIA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3474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Velocidad y Series Temporales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109728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1704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Tipo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25880" y="1143000"/>
            <a:ext cx="137160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1704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Sistema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1143000"/>
            <a:ext cx="228600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11704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Caso de Uso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74920" y="1143000"/>
            <a:ext cx="393192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1704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Características Clave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880" y="1490472"/>
            <a:ext cx="8778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1490472"/>
            <a:ext cx="64008" cy="530352"/>
          </a:xfrm>
          <a:prstGeom prst="rect">
            <a:avLst/>
          </a:prstGeom>
          <a:solidFill>
            <a:srgbClr val="DC382D"/>
          </a:solidFill>
          <a:ln w="12700">
            <a:solidFill>
              <a:srgbClr val="DC38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158191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382D"/>
                </a:solidFill>
              </a:rPr>
              <a:t>En Memoria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71600" y="15819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Redis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889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Caché, colas, pub/sub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20640" y="15819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Estructuras de datos avanzadas, persistencia opcional, cluster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2039112"/>
            <a:ext cx="87782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2039112"/>
            <a:ext cx="64008" cy="530352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213055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9CC"/>
                </a:solidFill>
              </a:rPr>
              <a:t>En Memoria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371600" y="213055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Memcached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88920" y="21305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Caché distribuido simple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20640" y="21305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Extremadamente rápido, multihilo, fácil escalado horizontal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82880" y="2587752"/>
            <a:ext cx="8778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2587752"/>
            <a:ext cx="64008" cy="530352"/>
          </a:xfrm>
          <a:prstGeom prst="rect">
            <a:avLst/>
          </a:prstGeom>
          <a:solidFill>
            <a:srgbClr val="E84C3D"/>
          </a:solidFill>
          <a:ln w="12700">
            <a:solidFill>
              <a:srgbClr val="E84C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" y="26791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C3D"/>
                </a:solidFill>
              </a:rPr>
              <a:t>En Memoria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371600" y="26791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Apache Ignite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88920" y="26791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Computación en memoria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20640" y="26791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SQL sobre datos en RAM, procesamiento distribuido, ACID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82880" y="3136392"/>
            <a:ext cx="87782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880" y="3136392"/>
            <a:ext cx="64008" cy="530352"/>
          </a:xfrm>
          <a:prstGeom prst="rect">
            <a:avLst/>
          </a:prstGeom>
          <a:solidFill>
            <a:srgbClr val="22ADF6"/>
          </a:solidFill>
          <a:ln w="12700">
            <a:solidFill>
              <a:srgbClr val="22AD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" y="32278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ADF6"/>
                </a:solidFill>
              </a:rPr>
              <a:t>Series Temp.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371600" y="32278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InfluxDB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88920" y="32278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IoT, métricas, monitoreo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20640" y="32278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Query en Flux/InfluxQL, retención de datos configurable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82880" y="3685032"/>
            <a:ext cx="8778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2880" y="3685032"/>
            <a:ext cx="64008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2608" y="37764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Series Temp.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371600" y="37764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TimescaleDB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788920" y="3776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PostgreSQL + series temporales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20640" y="37764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Hypertables, compresión de columnas, extensión de PostgreSQL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82880" y="4233672"/>
            <a:ext cx="87782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2880" y="4233672"/>
            <a:ext cx="64008" cy="530352"/>
          </a:xfrm>
          <a:prstGeom prst="rect">
            <a:avLst/>
          </a:prstGeom>
          <a:solidFill>
            <a:srgbClr val="E6522C"/>
          </a:solidFill>
          <a:ln w="12700">
            <a:solidFill>
              <a:srgbClr val="E652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2608" y="432511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22C"/>
                </a:solidFill>
              </a:rPr>
              <a:t>Series Temp.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371600" y="43251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Prometheus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788920" y="43251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Monitoreo cloud-native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120640" y="43251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Pull-based, alertas, integración con Grafana, OpenMetrics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ANÁLISIS COMPARATIVO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3474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 cada tipo?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82880" y="1115568"/>
            <a:ext cx="201168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13385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Tipo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40280" y="1115568"/>
            <a:ext cx="256032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13385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Caso Ideal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115568"/>
            <a:ext cx="118872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3385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Velocidad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1115568"/>
            <a:ext cx="118872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13385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Escalab.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1115568"/>
            <a:ext cx="118872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113385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Flexib.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1463040"/>
            <a:ext cx="87782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15453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Relacional (SQL)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0" y="15453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Transacciones, ERP, finanzas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15453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★★★★★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15453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★★★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60920" y="15453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★★★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" y="1911096"/>
            <a:ext cx="8778240" cy="42976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19933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NoSQL Documentos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0" y="19933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Apps móviles, CMS, e-commerce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★★★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★★★★★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6092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★★★★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2880" y="2359152"/>
            <a:ext cx="87782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2441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NoSQL Clave-Valor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0" y="24414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Caché, sesiones, tiempo real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2441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★★★★★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26480" y="2441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★★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60920" y="2441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★★★★★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2880" y="2807208"/>
            <a:ext cx="8778240" cy="42976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28895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NoSQL Columnar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286000" y="28895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Big Data, analítica masiva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92040" y="28895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★★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26480" y="28895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★★★★★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60920" y="28895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★★★★★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2880" y="3255264"/>
            <a:ext cx="87782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" y="3337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NoSQL Grafos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86000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Redes sociales, recomendaciones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92040" y="3337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★★★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126480" y="3337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★★★★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360920" y="3337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★★★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2880" y="3703320"/>
            <a:ext cx="8778240" cy="42976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" y="37856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Cloud (DBaaS)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286000" y="37856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Startups, escalado dinámico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92040" y="37856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★★★★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126480" y="37856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★★★★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360920" y="37856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★★★★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182880" y="4151376"/>
            <a:ext cx="87782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8600" y="4233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En Memoria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286000" y="42336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Caché, métricas, juegos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892040" y="42336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★★★★★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126480" y="42336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★★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360920" y="42336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★★★★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182880" y="4599432"/>
            <a:ext cx="8778240" cy="42976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28600" y="4681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Series Temporales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286000" y="46817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IoT, monitoreo, logs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892040" y="46817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★★★★★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126480" y="46817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★★★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360920" y="46817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★★★★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8344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D9488"/>
                </a:solidFill>
              </a:rPr>
              <a:t>CONCLUSIONES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debemos recordar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4160520" cy="15544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4904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No hay una solución única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94767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Cada tipo de repositorio está diseñado para necesidades específicas. La elección depende del contexto, volumen y tipo de datos.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3063240"/>
            <a:ext cx="4160520" cy="15544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20040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32278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SQL sigue siendo fundamental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6850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Las bases de datos relacionales dominan en sistemas transaccionales críticos por su madurez, consistencia y soporte ACID.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325880"/>
            <a:ext cx="4160520" cy="15544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92040" y="146304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94960" y="14904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NoSQL impulsa la escalabilidad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194767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Para aplicaciones de alta disponibilidad con datos no estructurados, las opciones NoSQL ofrecen una ventaja competitiva.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063240"/>
            <a:ext cx="4160520" cy="15544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320040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94960" y="32278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La nube democratizó el acceso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36850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Los servicios DBaaS permiten a cualquier empresa acceder a infraestructura de datos de nivel enterprise sin grandes inversiones.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Investigación elaborada por: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Henry Anderson Gomez Vasquez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2E8F0"/>
                </a:solidFill>
              </a:rPr>
              <a:t>Abril 2026  |  Repositorios para Bases de Datos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Repositorios para Bases de Datos</dc:title>
  <dc:subject>PptxGenJS Presentation</dc:subject>
  <dc:creator>Henry Anderson Gomez Vasquez</dc:creator>
  <cp:lastModifiedBy>Henry Anderson Gomez Vasquez</cp:lastModifiedBy>
  <cp:revision>1</cp:revision>
  <dcterms:created xsi:type="dcterms:W3CDTF">2026-04-11T22:33:13Z</dcterms:created>
  <dcterms:modified xsi:type="dcterms:W3CDTF">2026-04-11T22:33:13Z</dcterms:modified>
</cp:coreProperties>
</file>